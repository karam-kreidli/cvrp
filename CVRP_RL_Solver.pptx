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RL-Guided CVRP Solver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B0D4"/>
                </a:solidFill>
              </a:rPr>
              <a:t>Capacitated Vehicle Routing Problem  ·  GECCO 2026 ML4VRP Competition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F2F2"/>
                </a:solidFill>
              </a:rPr>
              <a:t>A Reinforcement Learning agent learns when and how to push
a state-of-the-art CVRP solver for minimal fleet &amp; distance.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846320"/>
            <a:ext cx="22860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864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PPO · Actor-Critic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4846320"/>
            <a:ext cx="22860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4864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HGS-CVRP (hygese)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4846320"/>
            <a:ext cx="2286000" cy="4114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89320" y="486460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X-Dataset · 59 instances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Problem: CVRP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37160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4114800" cy="3200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3840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What is CVRP?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Route a fleet of vehicles from a central depot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Each customer has a location and demand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Each vehicle has a fixed capacity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All customers must be served exactly once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Minimise: cost = 1000×NV + Total Distance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005840"/>
            <a:ext cx="4023360" cy="3200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1097280"/>
            <a:ext cx="37490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Competition Objective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NV (vehicles) is multiplied by 1000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→ removing one truck saves 1000 points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Distance only matters after fleet is minimised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N-P Hard: exact methods fail at scale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HGS-CVRP (C++) is state-of-the-art heuristic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4480560"/>
            <a:ext cx="6400800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52628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D4"/>
                </a:solidFill>
              </a:rPr>
              <a:t>Score  =  1000 × NV  +  Total Distance  →  minimise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Our Approach: RL-Guided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2F2"/>
                </a:solidFill>
              </a:rPr>
              <a:t>Instead of solving CVRP directly with neural networks, we train a lightweight RL agent to make high-level strategic decisions—then let the world-class HGS solver do the heavy lifting.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965960"/>
            <a:ext cx="192024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20116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1  Instance
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26974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2F2"/>
                </a:solidFill>
              </a:rPr>
              <a:t>7 hand-crafted
spatial stats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965960"/>
            <a:ext cx="192024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04872" y="20116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2  RL Agent
(Fleet Manager)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04872" y="26974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2F2"/>
                </a:solidFill>
              </a:rPr>
              <a:t>Actor-Critic
5 700 params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965960"/>
            <a:ext cx="192024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20116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3  HGS-CVRP
Solver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26974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2F2"/>
                </a:solidFill>
              </a:rPr>
              <a:t>C++ high-perf
heuristic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965960"/>
            <a:ext cx="1920240" cy="13716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2011680"/>
            <a:ext cx="1783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D4"/>
                </a:solidFill>
              </a:rPr>
              <a:t>4  Reward
Signal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26974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2F2F2"/>
                </a:solidFill>
              </a:rPr>
              <a:t>% improvement
over episode best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12848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D4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0248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D4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231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B0D4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11880"/>
            <a:ext cx="8412480" cy="2194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703320"/>
            <a:ext cx="813815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Training Loop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Episode = one CVRP instance × 50 decision steps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Each step: agent picks an action → HGS runs → new best tracked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PPO updates policy using cumulative reward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Curriculum: 20 epochs on small (N≤100) then all 59 instances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Fleet Manager – RL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64592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114800" cy="2926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Network Architecture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Input: 14-dim vector  (7 instance features + 7 live solver stats)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Hidden: two 64-unit ReLU layers  (shared trunk)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Actor head: 64 → 7 action logits  (+ action masking)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Critic head: 64 → 1 state-value estimate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~5,700 parameters total  –  tiny by design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60120"/>
            <a:ext cx="4206240" cy="2926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D4"/>
                </a:solidFill>
              </a:rPr>
              <a:t>7 Discrete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4475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#0  FREE_SAME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44475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Unconstrained, same seed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176479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#1  FREE_NEW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6479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Unconstrained, new seed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08483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#2  LOCK_SAME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8483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Lock best NV, same seed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40487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#3  LOCK_NEW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0487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Lock best NV, new 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72491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#4  PUSH_SAME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72491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Try NV−1, same seed  ×2 iters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044952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#5  PUSH_NEW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044952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Try NV−1, new seed  ×2 iters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64991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B0D4"/>
                </a:solidFill>
              </a:rPr>
              <a:t>#6  FORCE_MIN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64991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2F2"/>
                </a:solidFill>
              </a:rPr>
              <a:t>Force NV_min  ×3 iters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69080"/>
            <a:ext cx="8412480" cy="19202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160520"/>
            <a:ext cx="81381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Observation Space (14 dims)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Instance features (computed once):  size, demand fill ratio, mean/std distance, depot centrality, demand CV, capacity tightness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Live solver stats (updated each step):  best NV, best TD, best score, step fraction, NV fraction, score improvement, NV headroom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1264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* Actions 4-6 masked when NV ≤ NV_min (impossible fleet reductions)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Instance Feature Extraction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82880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2F2"/>
                </a:solidFill>
              </a:rPr>
              <a:t>Seven deterministic, hand-crafted features capture the spatial and structural properties of each instance without requiring a learned encoder.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91640"/>
            <a:ext cx="8503920" cy="3474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72821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728216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Formula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72821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Meaning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084831"/>
            <a:ext cx="8503920" cy="47548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15798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size_norm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15798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num_customers / 400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15798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Instance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587752"/>
            <a:ext cx="8503920" cy="475488"/>
          </a:xfrm>
          <a:prstGeom prst="rect">
            <a:avLst/>
          </a:prstGeom>
          <a:solidFill>
            <a:srgbClr val="1A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6609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demand_fill_ratio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6609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total_demand / (NV_min × capacity)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26609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Vehicle packing tightness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90672"/>
            <a:ext cx="8503920" cy="47548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16382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mean_dist_norm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316382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mean_distance / max_distance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316382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Average inter-customer spacing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93591"/>
            <a:ext cx="8503920" cy="475488"/>
          </a:xfrm>
          <a:prstGeom prst="rect">
            <a:avLst/>
          </a:prstGeom>
          <a:solidFill>
            <a:srgbClr val="1A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66674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std_dist_norm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366674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std_distance / max_distance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66674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Distance variance (clustered vs spread)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096512"/>
            <a:ext cx="8503920" cy="47548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416966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depot_centrality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16966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mean_depot_dist / max_distance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41696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How central the depot 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599431"/>
            <a:ext cx="8503920" cy="475488"/>
          </a:xfrm>
          <a:prstGeom prst="rect">
            <a:avLst/>
          </a:prstGeom>
          <a:solidFill>
            <a:srgbClr val="1A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672583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demand_cv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672583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std_demand / mean_demand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4672583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Demand heterogeneity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5102352"/>
            <a:ext cx="8503920" cy="475488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5175504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capacity_tightness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5175504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max_demand / capacity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89320" y="517550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Hardest single-customer fill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PPO Training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28016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114800" cy="374903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84048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Hyper-parameters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Algorithm: Proximal Policy Optimisation (PPO) with clipped surrogate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Rollout: 8 episodes × 50 steps = 400 transitions per epoch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GAE-λ advantages: λ = 0.90  (bias-variance balance)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Clip ratio: ε = 0.20  (prevents large policy jumps)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Entropy bonus: 0.02  (encourages continued exploration)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Learning rate: 1e-4 → 5e-5  (linear decay)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FP16 mixed precision on GPU  (halves memory usage)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60120"/>
            <a:ext cx="4114800" cy="3749039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0" y="1051560"/>
            <a:ext cx="3840480" cy="3566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Curriculum &amp; Evaluation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Epochs 1-20: small instances only (N ≤ 100 customers)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→ agent learns basic strategies quickly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Epochs 21+: all 59 X-dataset instances (up to 400 customers)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→ policy generalises to harder problems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Evaluation every epoch on 5 fixed instances: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X-n101, X-n157, X-n223, X-n261, X-n313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(greedy policy, no exploration noise)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892040"/>
            <a:ext cx="8412480" cy="1051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83479"/>
            <a:ext cx="8138159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Reward Signal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Reward = % improvement over episode-best score  (positive only on new bests)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Fleet-explosion penalty: −5.0  |  No-improvement: −0.5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37160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155448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280160"/>
            <a:ext cx="146303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D4"/>
                </a:solidFill>
              </a:rPr>
              <a:t>.vrp File
(X-dataset)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148840" y="1097280"/>
            <a:ext cx="155448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280160"/>
            <a:ext cx="146303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D4"/>
                </a:solidFill>
              </a:rPr>
              <a:t>Feature
Extractor
(7 stats)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1097280"/>
            <a:ext cx="155448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69080" y="1280160"/>
            <a:ext cx="146303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D4"/>
                </a:solidFill>
              </a:rPr>
              <a:t>Fleet Manager
(Actor-Critic
NN)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097280"/>
            <a:ext cx="155448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1280160"/>
            <a:ext cx="1463039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D4"/>
                </a:solidFill>
              </a:rPr>
              <a:t>HGS-CVRP
Solver
(hygese C++)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1097280"/>
            <a:ext cx="1463040" cy="12801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1280160"/>
            <a:ext cx="137160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0D4"/>
                </a:solidFill>
              </a:rPr>
              <a:t>Best Solution
&amp; Reward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148132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D4"/>
                </a:solidFill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148132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D4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1481328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B0D4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743200"/>
            <a:ext cx="713232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770632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8500"/>
                </a:solidFill>
              </a:rPr>
              <a:t>PPO update  ←  GAE advantages  ←  reward signal  (loops each epoch)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383280"/>
            <a:ext cx="8412480" cy="2834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474720"/>
            <a:ext cx="813815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File Layout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src/agent_manager.py   –  Fleet Manager (Actor-Critic NN)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src/solver_engine.py   –  CVRPEnv (Gymnasium + HGS wrapper)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src/train.py           –  PPO loop, GAE, checkpointing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src/main.py            –  CLI entry point &amp; smoke tests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scripts/infer.py       –  Run trained agent on new instances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data/*.vrp             –  59 X-dataset instances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logs/best_model.pth    –  Trained checkpoint (~80 KB)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Dataset &amp; Benchmarks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46304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114800" cy="2560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8404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Dataset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X-dataset (Uchoa et al., 2014)  –  standard CVRP benchmark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59 instances:  X-n101-k25  …  X-n401-k29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100–400 customers per instance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TSPLIB format: coordinates, demands, vehicle capacity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Best Known Solutions (BKS) available for each instance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663440" y="960120"/>
            <a:ext cx="4206240" cy="25603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987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0D4"/>
                </a:solidFill>
              </a:rPr>
              <a:t>Typical BKS Score Ranges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4023360" cy="5029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554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Small  (100-150 cust.)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55448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≈ 20 000 – 90 000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057400"/>
            <a:ext cx="4023360" cy="502920"/>
          </a:xfrm>
          <a:prstGeom prst="rect">
            <a:avLst/>
          </a:prstGeom>
          <a:solidFill>
            <a:srgbClr val="1A3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21488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Medium (150-250 cust.)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14884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≈ 35 000 – 190 000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651760"/>
            <a:ext cx="4023360" cy="50292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7432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Large  (250-400 cust.)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743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0D4"/>
                </a:solidFill>
              </a:rPr>
              <a:t>≈ 39 000 – 241 000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749039"/>
            <a:ext cx="8412480" cy="2194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840479"/>
            <a:ext cx="8138159" cy="2011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Evaluation Instances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Fixed validation set (5 instances, evaluated every epoch):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X-n101-k25    (100 customers)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X-n157-k13    (156 customers)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X-n223-k34    (222 customers)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X-n261-k13    (260 customers)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  • X-n313-k71    (312 customers)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12648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Training log saved to  logs/training_metrics.csv  (epoch, eval_score, NV, TD, entropy, 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Key Design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137160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005840"/>
            <a:ext cx="4206240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29768" y="10972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D4"/>
                </a:solidFill>
              </a:rPr>
              <a:t>Hand-crafted features  (not GNN)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36192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Instant signal without training overhead. Interpretable and cheap to compute once per episode.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00600" y="1005840"/>
            <a:ext cx="4206240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0328" y="10972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D4"/>
                </a:solidFill>
              </a:rPr>
              <a:t>Fleet-target action 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10328" y="1536192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Directly controls HGS parameters. Three dimensions: fleet target × seed × iteration budget.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34640"/>
            <a:ext cx="4206240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29260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D4"/>
                </a:solidFill>
              </a:rPr>
              <a:t>No warm-starting  (fresh solves)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364992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Each step is an independent HGS run. Avoids local optima and simplifies credit assignment.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00600" y="2834640"/>
            <a:ext cx="4206240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29260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D4"/>
                </a:solidFill>
              </a:rPr>
              <a:t>Percentage-based reward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0328" y="3364992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Normalises across instance sizes. Positive only when a new best is found—unambiguous signal.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663440"/>
            <a:ext cx="4206240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754879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D4"/>
                </a:solidFill>
              </a:rPr>
              <a:t>Curriculum learning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193792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Start small for rapid skill acquisition; then generalise. Prevents early over-fitting to easy instances.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00600" y="4663440"/>
            <a:ext cx="4206240" cy="1600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4754879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0D4"/>
                </a:solidFill>
              </a:rPr>
              <a:t>FP16 mixed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8" y="5193792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2F2"/>
                </a:solidFill>
              </a:rPr>
              <a:t>Halves GPU memory. Enables larger effective batch sizes with negligible accuracy cost.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How to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04672"/>
            <a:ext cx="82296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960120"/>
            <a:ext cx="411480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966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Installation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4114800" cy="8686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44168"/>
            <a:ext cx="38404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pip install -r requirements.txt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# needs: torch  numpy  gymnasium  hygese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# hygese requires a C++ compiler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411480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99669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Smoke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1280160"/>
            <a:ext cx="4114800" cy="8686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344168"/>
            <a:ext cx="3840480" cy="731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# Run smoke tests (verify everything works)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python -m src.main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11680"/>
            <a:ext cx="411480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0482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4114800" cy="20116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395728"/>
            <a:ext cx="384048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python -m src.main train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--instance_path data/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--epochs 50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--episodes_per_epoch 8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--batch_size 128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--fp16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--curriculum_epochs 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60" y="2011680"/>
            <a:ext cx="4114800" cy="3200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600" y="2048256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B0D4"/>
                </a:solidFill>
              </a:rPr>
              <a:t>Inference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2331720"/>
            <a:ext cx="4114800" cy="2011680"/>
          </a:xfrm>
          <a:prstGeom prst="rect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0" y="2395728"/>
            <a:ext cx="384048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# Single instance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python -m scripts.infer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--instance data/X-n200-k36.vrp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/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# All instances (with baseline)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python -m scripts.infer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--instance_dir data/ \</a:t>
            </a:r>
          </a:p>
          <a:p>
            <a:pPr algn="l"/>
            <a:r>
              <a:rPr sz="1100">
                <a:solidFill>
                  <a:srgbClr val="90EE90"/>
                </a:solidFill>
                <a:latin typeface="Courier New"/>
              </a:rPr>
              <a:t>  --baseline --verbose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206240"/>
            <a:ext cx="850392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297679"/>
            <a:ext cx="8229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0D4"/>
                </a:solidFill>
              </a:rPr>
              <a:t>Key CLI Arguments</a:t>
            </a:r>
          </a:p>
          <a:p/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--resume            Resume from checkpoint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--start_epoch N     Continue from epoch N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--fp16              Enable mixed precision (CUDA required)</a:t>
            </a:r>
          </a:p>
          <a:p>
            <a:pPr algn="l">
              <a:spcBef>
                <a:spcPts val="200"/>
              </a:spcBef>
            </a:pPr>
            <a:r>
              <a:rPr sz="1300">
                <a:solidFill>
                  <a:srgbClr val="FFFFFF"/>
                </a:solidFill>
              </a:rPr>
              <a:t>--curriculum_epochs N   Epochs restricted to small instances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04672"/>
            <a:ext cx="731520" cy="36576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16052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4160520" cy="365760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5156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39776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CVRP: route vehicles minimising
1000×NV + Total Distance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005840"/>
            <a:ext cx="416052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00600" y="1005840"/>
            <a:ext cx="4160520" cy="365760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105156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</a:rPr>
              <a:t>Method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463040"/>
            <a:ext cx="39776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Lightweight PPO agent (5.7k params)
guides the powerful HGS-CVRP solver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416052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4160520" cy="365760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97180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</a:rPr>
              <a:t>Key Idea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383280"/>
            <a:ext cx="39776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Agent learns when to push fleet size
vs. when to optimise distance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926080"/>
            <a:ext cx="4160520" cy="16916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00600" y="2926080"/>
            <a:ext cx="4160520" cy="365760"/>
          </a:xfrm>
          <a:prstGeom prst="rect">
            <a:avLst/>
          </a:prstGeom>
          <a:solidFill>
            <a:srgbClr val="00B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92040" y="297180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A233A"/>
                </a:solidFill>
              </a:rPr>
              <a:t>Result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383280"/>
            <a:ext cx="39776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Curriculum + hand-crafted features
enable fast, generalising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35508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88888"/>
                </a:solidFill>
              </a:rPr>
              <a:t>GECCO 2026 ML4VRP Competition  ·  X-dataset (Uchoa et al., 2014)  ·  HGS-CVRP (Vidal, 2022)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